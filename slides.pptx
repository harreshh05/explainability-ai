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" charset="1" panose="00000500000000000000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Montserrat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331" y="1581459"/>
            <a:ext cx="830009" cy="842101"/>
          </a:xfrm>
          <a:custGeom>
            <a:avLst/>
            <a:gdLst/>
            <a:ahLst/>
            <a:cxnLst/>
            <a:rect r="r" b="b" t="t" l="l"/>
            <a:pathLst>
              <a:path h="842101" w="830009">
                <a:moveTo>
                  <a:pt x="0" y="0"/>
                </a:moveTo>
                <a:lnTo>
                  <a:pt x="830010" y="0"/>
                </a:lnTo>
                <a:lnTo>
                  <a:pt x="830010" y="842101"/>
                </a:lnTo>
                <a:lnTo>
                  <a:pt x="0" y="842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91331" y="3374947"/>
            <a:ext cx="8015383" cy="2805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42"/>
              </a:lnSpc>
              <a:spcBef>
                <a:spcPct val="0"/>
              </a:spcBef>
            </a:pPr>
            <a:r>
              <a:rPr lang="en-US" sz="5315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Explainable &amp; Ethical AI for Employee Attrition Prediction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9762" y="-643475"/>
            <a:ext cx="1286950" cy="12869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56712" y="1514784"/>
            <a:ext cx="2378603" cy="136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9"/>
              </a:lnSpc>
              <a:spcBef>
                <a:spcPct val="0"/>
              </a:spcBef>
            </a:pPr>
            <a:r>
              <a:rPr lang="en-US" b="true" sz="2585" spc="-51">
                <a:solidFill>
                  <a:srgbClr val="5B98BA"/>
                </a:solidFill>
                <a:latin typeface="Poppins Bold"/>
                <a:ea typeface="Poppins Bold"/>
                <a:cs typeface="Poppins Bold"/>
                <a:sym typeface="Poppins Bold"/>
              </a:rPr>
              <a:t>Course: Explainable AI</a:t>
            </a:r>
          </a:p>
          <a:p>
            <a:pPr algn="l" marL="0" indent="0" lvl="0">
              <a:lnSpc>
                <a:spcPts val="361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91331" y="6326079"/>
            <a:ext cx="7752669" cy="293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  <a:r>
              <a:rPr lang="en-US" b="true" sz="2751" spc="-55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751" spc="-55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eam Members:</a:t>
            </a:r>
            <a:r>
              <a:rPr lang="en-US" sz="2751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751" spc="-55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9 - Hackathon 2026</a:t>
            </a:r>
          </a:p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2751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⁠COSTE Thomas</a:t>
            </a:r>
          </a:p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2751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BHATTARAI Govinda</a:t>
            </a:r>
          </a:p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2751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MOUROUGAN Harreshh</a:t>
            </a:r>
          </a:p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2751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⁠ZULFIQAR Marwa</a:t>
            </a:r>
          </a:p>
          <a:p>
            <a:pPr algn="l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2751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⁠CHANUMOLU Lalith Adithya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573918" y="3143201"/>
            <a:ext cx="9146584" cy="5246370"/>
            <a:chOff x="0" y="0"/>
            <a:chExt cx="7981950" cy="45783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0" t="-3827" r="0" b="-382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9603" y="1122782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14313" y="1459818"/>
            <a:ext cx="6270276" cy="6270276"/>
            <a:chOff x="0" y="0"/>
            <a:chExt cx="8916670" cy="8916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18345" y="3122239"/>
            <a:ext cx="8414772" cy="249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Employee </a:t>
            </a: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attrition represents a major and costly challenge for organizations. Current AI systems have several critical shortcomings: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• They provide predictions without clear explanations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• They lack transparency, reducing user trust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• They can introduce bias into HR decisions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18345" y="2302325"/>
            <a:ext cx="4155745" cy="52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4"/>
              </a:lnSpc>
              <a:spcBef>
                <a:spcPct val="0"/>
              </a:spcBef>
            </a:pPr>
            <a:r>
              <a:rPr lang="en-US" sz="306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8345" y="6854581"/>
            <a:ext cx="8414772" cy="7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30" spc="-40" strike="noStrike" u="none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nderstanding why employees leave is essential for developing effective and ethical retention strategies.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8345" y="6362835"/>
            <a:ext cx="3724127" cy="41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8"/>
              </a:lnSpc>
              <a:spcBef>
                <a:spcPct val="0"/>
              </a:spcBef>
            </a:pPr>
            <a:r>
              <a:rPr lang="en-US" b="true" sz="2484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</a:t>
            </a:r>
            <a:r>
              <a:rPr lang="en-US" b="true" sz="2484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Message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02273" y="-8767"/>
            <a:ext cx="4907787" cy="10295767"/>
          </a:xfrm>
          <a:custGeom>
            <a:avLst/>
            <a:gdLst/>
            <a:ahLst/>
            <a:cxnLst/>
            <a:rect r="r" b="b" t="t" l="l"/>
            <a:pathLst>
              <a:path h="10295767" w="490778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88" t="0" r="-97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852968"/>
            <a:ext cx="14586028" cy="5088907"/>
            <a:chOff x="0" y="0"/>
            <a:chExt cx="3841588" cy="13402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41588" cy="1340288"/>
            </a:xfrm>
            <a:custGeom>
              <a:avLst/>
              <a:gdLst/>
              <a:ahLst/>
              <a:cxnLst/>
              <a:rect r="r" b="b" t="t" l="l"/>
              <a:pathLst>
                <a:path h="1340288" w="3841588">
                  <a:moveTo>
                    <a:pt x="9023" y="0"/>
                  </a:moveTo>
                  <a:lnTo>
                    <a:pt x="3832565" y="0"/>
                  </a:lnTo>
                  <a:cubicBezTo>
                    <a:pt x="3837548" y="0"/>
                    <a:pt x="3841588" y="4040"/>
                    <a:pt x="3841588" y="9023"/>
                  </a:cubicBezTo>
                  <a:lnTo>
                    <a:pt x="3841588" y="1331265"/>
                  </a:lnTo>
                  <a:cubicBezTo>
                    <a:pt x="3841588" y="1336248"/>
                    <a:pt x="3837548" y="1340288"/>
                    <a:pt x="3832565" y="1340288"/>
                  </a:cubicBezTo>
                  <a:lnTo>
                    <a:pt x="9023" y="1340288"/>
                  </a:lnTo>
                  <a:cubicBezTo>
                    <a:pt x="4040" y="1340288"/>
                    <a:pt x="0" y="1336248"/>
                    <a:pt x="0" y="1331265"/>
                  </a:cubicBezTo>
                  <a:lnTo>
                    <a:pt x="0" y="9023"/>
                  </a:lnTo>
                  <a:cubicBezTo>
                    <a:pt x="0" y="4040"/>
                    <a:pt x="4040" y="0"/>
                    <a:pt x="9023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41588" cy="1378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70420" y="952500"/>
            <a:ext cx="5775957" cy="67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3"/>
              </a:lnSpc>
              <a:spcBef>
                <a:spcPct val="0"/>
              </a:spcBef>
            </a:pPr>
            <a:r>
              <a:rPr lang="en-US" b="true" sz="3938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0420" y="2254574"/>
            <a:ext cx="9913189" cy="49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 spc="-28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Construire un système IA de confiance qui prédit l'attrition, explique les décisions du modèle, assure équité et usage éthique, et soutient la prise de décision RH.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44471" y="4096383"/>
            <a:ext cx="1245003" cy="1842353"/>
          </a:xfrm>
          <a:custGeom>
            <a:avLst/>
            <a:gdLst/>
            <a:ahLst/>
            <a:cxnLst/>
            <a:rect r="r" b="b" t="t" l="l"/>
            <a:pathLst>
              <a:path h="1842353" w="1245003">
                <a:moveTo>
                  <a:pt x="0" y="0"/>
                </a:moveTo>
                <a:lnTo>
                  <a:pt x="1245003" y="0"/>
                </a:lnTo>
                <a:lnTo>
                  <a:pt x="1245003" y="1842353"/>
                </a:lnTo>
                <a:lnTo>
                  <a:pt x="0" y="1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690777" y="3928450"/>
            <a:ext cx="1707757" cy="1332359"/>
          </a:xfrm>
          <a:custGeom>
            <a:avLst/>
            <a:gdLst/>
            <a:ahLst/>
            <a:cxnLst/>
            <a:rect r="r" b="b" t="t" l="l"/>
            <a:pathLst>
              <a:path h="1332359" w="1707757">
                <a:moveTo>
                  <a:pt x="0" y="0"/>
                </a:moveTo>
                <a:lnTo>
                  <a:pt x="1707758" y="0"/>
                </a:lnTo>
                <a:lnTo>
                  <a:pt x="1707758" y="1332358"/>
                </a:lnTo>
                <a:lnTo>
                  <a:pt x="0" y="133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228323" y="4274991"/>
            <a:ext cx="1582790" cy="1191505"/>
          </a:xfrm>
          <a:custGeom>
            <a:avLst/>
            <a:gdLst/>
            <a:ahLst/>
            <a:cxnLst/>
            <a:rect r="r" b="b" t="t" l="l"/>
            <a:pathLst>
              <a:path h="1191505" w="1582790">
                <a:moveTo>
                  <a:pt x="0" y="0"/>
                </a:moveTo>
                <a:lnTo>
                  <a:pt x="1582790" y="0"/>
                </a:lnTo>
                <a:lnTo>
                  <a:pt x="1582790" y="1191506"/>
                </a:lnTo>
                <a:lnTo>
                  <a:pt x="0" y="1191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62920" y="6412836"/>
            <a:ext cx="4161784" cy="61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199" spc="-23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Develop a reliable predictive model capable of identifying employees at risk of leaving before it is too late to intervene.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5938890" y="4181637"/>
            <a:ext cx="0" cy="441034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369568" y="5785309"/>
            <a:ext cx="2348490" cy="27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Predicting Attrition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99437" y="6437742"/>
            <a:ext cx="4161784" cy="61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199" spc="-23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1199" spc="-23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ovide clear and understandable explanations of the factors influencing each prediction to strengthen user confidence.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06085" y="5810214"/>
            <a:ext cx="2348490" cy="27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Explain the Decisions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57083" y="6437742"/>
            <a:ext cx="4161784" cy="61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199" spc="-23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To gu</a:t>
            </a:r>
            <a:r>
              <a:rPr lang="en-US" sz="1199" spc="-23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arantee the fairness of predictions by controlling potential biases and ensuring responsible and ethical use of the AI ​​system.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63730" y="5810214"/>
            <a:ext cx="2348490" cy="27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1"/>
              </a:lnSpc>
              <a:spcBef>
                <a:spcPct val="0"/>
              </a:spcBef>
            </a:pPr>
            <a:r>
              <a:rPr lang="en-US" sz="1601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601">
                <a:solidFill>
                  <a:srgbClr val="145DA0"/>
                </a:solidFill>
                <a:latin typeface="Montserrat"/>
                <a:ea typeface="Montserrat"/>
                <a:cs typeface="Montserrat"/>
                <a:sym typeface="Montserrat"/>
              </a:rPr>
              <a:t>suring Ethics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706179" y="4181637"/>
            <a:ext cx="0" cy="441034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2244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9132" y="1260904"/>
            <a:ext cx="7922504" cy="48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3"/>
              </a:lnSpc>
              <a:spcBef>
                <a:spcPct val="0"/>
              </a:spcBef>
            </a:pPr>
            <a:r>
              <a:rPr lang="en-US" b="true" sz="2895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</a:t>
            </a:r>
            <a:r>
              <a:rPr lang="en-US" b="true" sz="2895" strike="noStrike" u="non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Presentation and Challenges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09132" y="2128374"/>
            <a:ext cx="9006427" cy="212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b="true" sz="2030" spc="-40" strike="noStrike" u="non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</a:t>
            </a: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030" spc="-40" strike="noStrike" u="none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HR Employee Dataset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311 employees, 36 variables, target: Termd (</a:t>
            </a:r>
            <a:r>
              <a:rPr lang="en-US" sz="2030" spc="-40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=Active, </a:t>
            </a:r>
            <a:r>
              <a:rPr lang="en-US" sz="2030" spc="-40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=Left)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b="true" sz="2030" spc="-40" strike="noStrike" u="non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Key variables:</a:t>
            </a: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salary, engagement survey, absences, performance score. </a:t>
            </a:r>
          </a:p>
          <a:p>
            <a:pPr algn="l" marL="0" indent="0" lvl="0">
              <a:lnSpc>
                <a:spcPts val="2843"/>
              </a:lnSpc>
              <a:spcBef>
                <a:spcPct val="0"/>
              </a:spcBef>
            </a:pPr>
            <a:r>
              <a:rPr lang="en-US" sz="2030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This dataset provides a solid foundation for analyzing attrition factors while also presenting significant challenges to overcome.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2"/>
              <a:stretch>
                <a:fillRect l="0" t="-1706" r="0" b="-17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94175" y="8410948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09132" y="5143500"/>
            <a:ext cx="11387207" cy="3298724"/>
            <a:chOff x="0" y="0"/>
            <a:chExt cx="2999100" cy="86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99100" cy="868800"/>
            </a:xfrm>
            <a:custGeom>
              <a:avLst/>
              <a:gdLst/>
              <a:ahLst/>
              <a:cxnLst/>
              <a:rect r="r" b="b" t="t" l="l"/>
              <a:pathLst>
                <a:path h="868800" w="2999100">
                  <a:moveTo>
                    <a:pt x="9518" y="0"/>
                  </a:moveTo>
                  <a:lnTo>
                    <a:pt x="2989581" y="0"/>
                  </a:lnTo>
                  <a:cubicBezTo>
                    <a:pt x="2992106" y="0"/>
                    <a:pt x="2994527" y="1003"/>
                    <a:pt x="2996312" y="2788"/>
                  </a:cubicBezTo>
                  <a:cubicBezTo>
                    <a:pt x="2998097" y="4573"/>
                    <a:pt x="2999100" y="6994"/>
                    <a:pt x="2999100" y="9518"/>
                  </a:cubicBezTo>
                  <a:lnTo>
                    <a:pt x="2999100" y="859282"/>
                  </a:lnTo>
                  <a:cubicBezTo>
                    <a:pt x="2999100" y="861806"/>
                    <a:pt x="2998097" y="864227"/>
                    <a:pt x="2996312" y="866012"/>
                  </a:cubicBezTo>
                  <a:cubicBezTo>
                    <a:pt x="2994527" y="867797"/>
                    <a:pt x="2992106" y="868800"/>
                    <a:pt x="2989581" y="868800"/>
                  </a:cubicBezTo>
                  <a:lnTo>
                    <a:pt x="9518" y="868800"/>
                  </a:lnTo>
                  <a:cubicBezTo>
                    <a:pt x="4261" y="868800"/>
                    <a:pt x="0" y="864538"/>
                    <a:pt x="0" y="859282"/>
                  </a:cubicBezTo>
                  <a:lnTo>
                    <a:pt x="0" y="9518"/>
                  </a:lnTo>
                  <a:cubicBezTo>
                    <a:pt x="0" y="6994"/>
                    <a:pt x="1003" y="4573"/>
                    <a:pt x="2788" y="2788"/>
                  </a:cubicBezTo>
                  <a:cubicBezTo>
                    <a:pt x="4573" y="1003"/>
                    <a:pt x="6994" y="0"/>
                    <a:pt x="9518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999100" cy="90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55593" y="4814991"/>
            <a:ext cx="2772169" cy="685553"/>
            <a:chOff x="0" y="0"/>
            <a:chExt cx="1013291" cy="2505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013291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12407" y="4814991"/>
            <a:ext cx="2772169" cy="685553"/>
            <a:chOff x="0" y="0"/>
            <a:chExt cx="1013291" cy="2505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13291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69222" y="4814991"/>
            <a:ext cx="2670160" cy="685553"/>
            <a:chOff x="0" y="0"/>
            <a:chExt cx="976004" cy="2505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6004" cy="250585"/>
            </a:xfrm>
            <a:custGeom>
              <a:avLst/>
              <a:gdLst/>
              <a:ahLst/>
              <a:cxnLst/>
              <a:rect r="r" b="b" t="t" l="l"/>
              <a:pathLst>
                <a:path h="250585" w="976004">
                  <a:moveTo>
                    <a:pt x="125293" y="0"/>
                  </a:moveTo>
                  <a:lnTo>
                    <a:pt x="850712" y="0"/>
                  </a:lnTo>
                  <a:cubicBezTo>
                    <a:pt x="883941" y="0"/>
                    <a:pt x="915810" y="13200"/>
                    <a:pt x="939307" y="36697"/>
                  </a:cubicBezTo>
                  <a:cubicBezTo>
                    <a:pt x="962804" y="60194"/>
                    <a:pt x="976004" y="92063"/>
                    <a:pt x="976004" y="125293"/>
                  </a:cubicBezTo>
                  <a:lnTo>
                    <a:pt x="976004" y="125293"/>
                  </a:lnTo>
                  <a:cubicBezTo>
                    <a:pt x="976004" y="158522"/>
                    <a:pt x="962804" y="190391"/>
                    <a:pt x="939307" y="213888"/>
                  </a:cubicBezTo>
                  <a:cubicBezTo>
                    <a:pt x="915810" y="237385"/>
                    <a:pt x="883941" y="250585"/>
                    <a:pt x="850712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76004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03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310929" y="5643420"/>
            <a:ext cx="2661498" cy="177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4"/>
              </a:lnSpc>
              <a:spcBef>
                <a:spcPct val="0"/>
              </a:spcBef>
            </a:pPr>
            <a:r>
              <a:rPr lang="en-US" sz="1667" spc="-33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1667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ssing values</a:t>
            </a:r>
          </a:p>
          <a:p>
            <a:pPr algn="ctr" marL="0" indent="0" lvl="0">
              <a:lnSpc>
                <a:spcPts val="2334"/>
              </a:lnSpc>
              <a:spcBef>
                <a:spcPct val="0"/>
              </a:spcBef>
            </a:pPr>
            <a:r>
              <a:rPr lang="en-US" sz="1667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Departure dates are missing for some employees, requiring logical validation and appropriate processing.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99225" y="5643420"/>
            <a:ext cx="2661498" cy="148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4"/>
              </a:lnSpc>
              <a:spcBef>
                <a:spcPct val="0"/>
              </a:spcBef>
            </a:pPr>
            <a:r>
              <a:rPr lang="en-US" sz="1667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Inconsistencies</a:t>
            </a:r>
          </a:p>
          <a:p>
            <a:pPr algn="ctr" marL="0" indent="0" lvl="0">
              <a:lnSpc>
                <a:spcPts val="2334"/>
              </a:lnSpc>
              <a:spcBef>
                <a:spcPct val="0"/>
              </a:spcBef>
            </a:pPr>
            <a:r>
              <a:rPr lang="en-US" sz="1667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Discrepancies between identifiers and labels, raw data not directly usable (date formats).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89588" y="5643420"/>
            <a:ext cx="2661498" cy="148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4"/>
              </a:lnSpc>
              <a:spcBef>
                <a:spcPct val="0"/>
              </a:spcBef>
            </a:pPr>
            <a:r>
              <a:rPr lang="en-US" sz="1667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Risk of bias</a:t>
            </a:r>
          </a:p>
          <a:p>
            <a:pPr algn="ctr" marL="0" indent="0" lvl="0">
              <a:lnSpc>
                <a:spcPts val="2334"/>
              </a:lnSpc>
              <a:spcBef>
                <a:spcPct val="0"/>
              </a:spcBef>
            </a:pPr>
            <a:r>
              <a:rPr lang="en-US" sz="1667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Sensitive variables (gender, demographics) may introduce bias into the model's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4991" y="2757110"/>
            <a:ext cx="6033363" cy="162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8"/>
              </a:lnSpc>
              <a:spcBef>
                <a:spcPct val="0"/>
              </a:spcBef>
            </a:pPr>
            <a:r>
              <a:rPr lang="en-US" b="true" sz="4677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4677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ata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49646"/>
            <a:ext cx="5885945" cy="19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</a:pPr>
            <a:r>
              <a:rPr lang="en-US" sz="2229" spc="-4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229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eprocessing is a crucial step to ensure the quality and reliability of the data before model training. Each step aims to eliminate noise and prepare a clean and usable dataset.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18101" y="17679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162447" y="1825672"/>
            <a:ext cx="5768345" cy="94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3"/>
              </a:lnSpc>
            </a:pP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Inconsistency Removal</a:t>
            </a:r>
          </a:p>
          <a:p>
            <a:pPr algn="l" marL="0" indent="0" lvl="0">
              <a:lnSpc>
                <a:spcPts val="2493"/>
              </a:lnSpc>
            </a:pP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Removal of records with contradictory or invalid data, representing less than 1% of the total dataset.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3159" y="2031678"/>
            <a:ext cx="1134140" cy="8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44000" y="35413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0688346" y="3599072"/>
            <a:ext cx="5768345" cy="126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3"/>
              </a:lnSpc>
            </a:pPr>
            <a:r>
              <a:rPr lang="en-US" sz="1781" spc="-3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ssing Values ​​Management</a:t>
            </a:r>
          </a:p>
          <a:p>
            <a:pPr algn="l" marL="0" indent="0" lvl="0">
              <a:lnSpc>
                <a:spcPts val="2493"/>
              </a:lnSpc>
            </a:pP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Systematic processing of empty fields, including departure dates, by imputation or exclusion depending on the context.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9058" y="3805078"/>
            <a:ext cx="1134140" cy="8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531807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0688346" y="5375752"/>
            <a:ext cx="5768345" cy="126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3"/>
              </a:lnSpc>
            </a:pPr>
            <a:r>
              <a:rPr lang="en-US" sz="1781" spc="-3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Logical </a:t>
            </a: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Validation of Departures</a:t>
            </a:r>
          </a:p>
          <a:p>
            <a:pPr algn="l" marL="0" indent="0" lvl="0">
              <a:lnSpc>
                <a:spcPts val="2493"/>
              </a:lnSpc>
            </a:pP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Verification of consistency between the employee's status (Termd) and the associated dates to ensure the integrity of the labels.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89058" y="5581759"/>
            <a:ext cx="1134140" cy="8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618101" y="7094753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0162447" y="7152433"/>
            <a:ext cx="5768345" cy="126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3"/>
              </a:lnSpc>
            </a:pPr>
            <a:r>
              <a:rPr lang="en-US" sz="1781" spc="-3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Data </a:t>
            </a: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Anonymization</a:t>
            </a:r>
          </a:p>
          <a:p>
            <a:pPr algn="l" marL="0" indent="0" lvl="0">
              <a:lnSpc>
                <a:spcPts val="2493"/>
              </a:lnSpc>
            </a:pPr>
            <a:r>
              <a:rPr lang="en-US" sz="1781" spc="-35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Before Training the model remove the personal identifiers (names, IDs) to guarantee confidentiality and compliance with ethical principles.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63159" y="7358440"/>
            <a:ext cx="1134140" cy="81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905455" y="2656032"/>
            <a:ext cx="373607" cy="3736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15313" y="4180490"/>
            <a:ext cx="373607" cy="37360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944228" y="7402839"/>
            <a:ext cx="373607" cy="37360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309460" y="5760481"/>
            <a:ext cx="373607" cy="37360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63160" y="1707807"/>
            <a:ext cx="6463216" cy="59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76"/>
              </a:lnSpc>
              <a:spcBef>
                <a:spcPct val="0"/>
              </a:spcBef>
            </a:pPr>
            <a:r>
              <a:rPr lang="en-US" b="true" sz="3483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Characteristics Engineering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867766" y="-1614217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2912435" y="3472452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96731" y="447246"/>
            <a:ext cx="5972616" cy="9392508"/>
          </a:xfrm>
          <a:custGeom>
            <a:avLst/>
            <a:gdLst/>
            <a:ahLst/>
            <a:cxnLst/>
            <a:rect r="r" b="b" t="t" l="l"/>
            <a:pathLst>
              <a:path h="9392508" w="5972616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76" t="0" r="-297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63160" y="3416277"/>
            <a:ext cx="3773019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niority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83149" y="3416277"/>
            <a:ext cx="66085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2912435" y="4097959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63160" y="4041784"/>
            <a:ext cx="414302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Day</a:t>
            </a: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 since assessment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83149" y="4041784"/>
            <a:ext cx="66085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2912435" y="4723196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663160" y="4667021"/>
            <a:ext cx="4652520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Behavioral i</a:t>
            </a: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ndicators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83149" y="4667021"/>
            <a:ext cx="66085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5400000">
            <a:off x="2912435" y="5348703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63160" y="5292528"/>
            <a:ext cx="439777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Absences and satisfaction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83149" y="5292528"/>
            <a:ext cx="66085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5400000">
            <a:off x="2912435" y="5973940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663160" y="5917765"/>
            <a:ext cx="4579735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Improved interpretability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83149" y="5917765"/>
            <a:ext cx="66085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5400000">
            <a:off x="2912435" y="6599447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663160" y="6543271"/>
            <a:ext cx="439777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Model p</a:t>
            </a: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83149" y="6543271"/>
            <a:ext cx="660851" cy="44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69"/>
              </a:lnSpc>
              <a:spcBef>
                <a:spcPct val="0"/>
              </a:spcBef>
            </a:pPr>
            <a:r>
              <a:rPr lang="en-US" sz="2478" spc="-49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4342332"/>
          </a:xfrm>
          <a:custGeom>
            <a:avLst/>
            <a:gdLst/>
            <a:ahLst/>
            <a:cxnLst/>
            <a:rect r="r" b="b" t="t" l="l"/>
            <a:pathLst>
              <a:path h="4342332" w="18288000">
                <a:moveTo>
                  <a:pt x="0" y="0"/>
                </a:moveTo>
                <a:lnTo>
                  <a:pt x="18288000" y="0"/>
                </a:lnTo>
                <a:lnTo>
                  <a:pt x="18288000" y="4342332"/>
                </a:lnTo>
                <a:lnTo>
                  <a:pt x="0" y="434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804" r="0" b="-7925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8217" y="9258300"/>
            <a:ext cx="18476217" cy="1028700"/>
            <a:chOff x="0" y="0"/>
            <a:chExt cx="4866164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66164" cy="270933"/>
            </a:xfrm>
            <a:custGeom>
              <a:avLst/>
              <a:gdLst/>
              <a:ahLst/>
              <a:cxnLst/>
              <a:rect r="r" b="b" t="t" l="l"/>
              <a:pathLst>
                <a:path h="270933" w="4866164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67558" y="1853482"/>
            <a:ext cx="11552885" cy="6932551"/>
            <a:chOff x="0" y="0"/>
            <a:chExt cx="3042735" cy="18258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2735" cy="1825857"/>
            </a:xfrm>
            <a:custGeom>
              <a:avLst/>
              <a:gdLst/>
              <a:ahLst/>
              <a:cxnLst/>
              <a:rect r="r" b="b" t="t" l="l"/>
              <a:pathLst>
                <a:path h="1825857" w="3042735">
                  <a:moveTo>
                    <a:pt x="0" y="0"/>
                  </a:moveTo>
                  <a:lnTo>
                    <a:pt x="3042735" y="0"/>
                  </a:lnTo>
                  <a:lnTo>
                    <a:pt x="3042735" y="1825857"/>
                  </a:lnTo>
                  <a:lnTo>
                    <a:pt x="0" y="1825857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2735" cy="1863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56642" y="1926842"/>
            <a:ext cx="3782436" cy="6859190"/>
          </a:xfrm>
          <a:custGeom>
            <a:avLst/>
            <a:gdLst/>
            <a:ahLst/>
            <a:cxnLst/>
            <a:rect r="r" b="b" t="t" l="l"/>
            <a:pathLst>
              <a:path h="6859190" w="3782436">
                <a:moveTo>
                  <a:pt x="0" y="0"/>
                </a:moveTo>
                <a:lnTo>
                  <a:pt x="3782436" y="0"/>
                </a:lnTo>
                <a:lnTo>
                  <a:pt x="3782436" y="6859190"/>
                </a:lnTo>
                <a:lnTo>
                  <a:pt x="0" y="6859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90" r="-3203" b="-99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75730" y="962025"/>
            <a:ext cx="5748323" cy="54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7"/>
              </a:lnSpc>
              <a:spcBef>
                <a:spcPct val="0"/>
              </a:spcBef>
            </a:pPr>
            <a:r>
              <a:rPr lang="en-US" b="true" sz="318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860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13997" y="3298645"/>
            <a:ext cx="5841799" cy="5146658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4860" y="3298645"/>
            <a:ext cx="5841799" cy="5146658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2204" y="3298645"/>
            <a:ext cx="5841799" cy="5146658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384604" y="3447950"/>
            <a:ext cx="5570690" cy="3133474"/>
            <a:chOff x="0" y="0"/>
            <a:chExt cx="1128903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671" r="0" b="-671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358655" y="3447950"/>
            <a:ext cx="5570690" cy="3133474"/>
            <a:chOff x="0" y="0"/>
            <a:chExt cx="1128903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671" r="0" b="-671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349552" y="3446286"/>
            <a:ext cx="5570690" cy="3133474"/>
            <a:chOff x="0" y="0"/>
            <a:chExt cx="1128903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l="0" t="-671" r="0" b="-6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417025" y="1895726"/>
            <a:ext cx="7453950" cy="870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6"/>
              </a:lnSpc>
              <a:spcBef>
                <a:spcPct val="0"/>
              </a:spcBef>
            </a:pPr>
            <a:r>
              <a:rPr lang="en-US" b="true" sz="5104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</a:t>
            </a:r>
            <a:r>
              <a:rPr lang="en-US" b="true" sz="5104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95061" y="7135947"/>
            <a:ext cx="5297877" cy="79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  <a:spcBef>
                <a:spcPct val="0"/>
              </a:spcBef>
            </a:pPr>
            <a:r>
              <a:rPr lang="en-US" sz="1532" spc="-3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532" spc="-3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owerful ensemble model tested for its ability to handle complex data and non-linear interactions between features.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91020" y="7135947"/>
            <a:ext cx="5297877" cy="79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  <a:spcBef>
                <a:spcPct val="0"/>
              </a:spcBef>
            </a:pPr>
            <a:r>
              <a:rPr lang="en-US" sz="1532" spc="-3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Rand</a:t>
            </a:r>
            <a:r>
              <a:rPr lang="en-US" sz="1532" spc="-3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om Forest selected for its robustness, management of complex data, and ability to provide variable importance.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14400" y="6668645"/>
            <a:ext cx="2877407" cy="33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Logistic </a:t>
            </a:r>
            <a:r>
              <a:rPr lang="en-US" sz="2033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7049" y="6668645"/>
            <a:ext cx="2877407" cy="33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Rand</a:t>
            </a:r>
            <a:r>
              <a:rPr lang="en-US" sz="2033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om Forest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96193" y="6667814"/>
            <a:ext cx="2877407" cy="33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  <a:spcBef>
                <a:spcPct val="0"/>
              </a:spcBef>
            </a:pPr>
            <a:r>
              <a:rPr lang="en-US" sz="2033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Final Choice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1010" y="7135947"/>
            <a:ext cx="5297877" cy="79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5"/>
              </a:lnSpc>
              <a:spcBef>
                <a:spcPct val="0"/>
              </a:spcBef>
            </a:pPr>
            <a:r>
              <a:rPr lang="en-US" sz="1532" spc="-3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32" spc="-3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imple and interpretable base model. Useful for establishing a performance baseline and understanding linear relationships between variables.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83153"/>
            <a:ext cx="7523780" cy="7546156"/>
            <a:chOff x="0" y="0"/>
            <a:chExt cx="2106826" cy="2113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6826" cy="2113092"/>
            </a:xfrm>
            <a:custGeom>
              <a:avLst/>
              <a:gdLst/>
              <a:ahLst/>
              <a:cxnLst/>
              <a:rect r="r" b="b" t="t" l="l"/>
              <a:pathLst>
                <a:path h="2113092" w="2106826">
                  <a:moveTo>
                    <a:pt x="0" y="0"/>
                  </a:moveTo>
                  <a:lnTo>
                    <a:pt x="2106826" y="0"/>
                  </a:lnTo>
                  <a:lnTo>
                    <a:pt x="2106826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6826" cy="215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8697013"/>
            <a:ext cx="7523780" cy="428991"/>
            <a:chOff x="0" y="0"/>
            <a:chExt cx="2106826" cy="120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6826" cy="120127"/>
            </a:xfrm>
            <a:custGeom>
              <a:avLst/>
              <a:gdLst/>
              <a:ahLst/>
              <a:cxnLst/>
              <a:rect r="r" b="b" t="t" l="l"/>
              <a:pathLst>
                <a:path h="120127" w="2106826">
                  <a:moveTo>
                    <a:pt x="0" y="0"/>
                  </a:moveTo>
                  <a:lnTo>
                    <a:pt x="2106826" y="0"/>
                  </a:lnTo>
                  <a:lnTo>
                    <a:pt x="2106826" y="120127"/>
                  </a:lnTo>
                  <a:lnTo>
                    <a:pt x="0" y="120127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06826" cy="158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38003" y="8290589"/>
            <a:ext cx="7523780" cy="75237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724222" y="-4507687"/>
            <a:ext cx="5924489" cy="592448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552480" y="2638960"/>
            <a:ext cx="9539804" cy="5317066"/>
          </a:xfrm>
          <a:custGeom>
            <a:avLst/>
            <a:gdLst/>
            <a:ahLst/>
            <a:cxnLst/>
            <a:rect r="r" b="b" t="t" l="l"/>
            <a:pathLst>
              <a:path h="5317066" w="9539804">
                <a:moveTo>
                  <a:pt x="0" y="0"/>
                </a:moveTo>
                <a:lnTo>
                  <a:pt x="9539804" y="0"/>
                </a:lnTo>
                <a:lnTo>
                  <a:pt x="9539804" y="5317066"/>
                </a:lnTo>
                <a:lnTo>
                  <a:pt x="0" y="5317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2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00267" y="1683502"/>
            <a:ext cx="3889492" cy="96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96"/>
              </a:lnSpc>
              <a:spcBef>
                <a:spcPct val="0"/>
              </a:spcBef>
            </a:pPr>
            <a:r>
              <a:rPr lang="en-US" b="true" sz="5640" strike="noStrike" u="none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00267" y="5830678"/>
            <a:ext cx="2370352" cy="35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1"/>
              </a:lnSpc>
              <a:spcBef>
                <a:spcPct val="0"/>
              </a:spcBef>
            </a:pPr>
            <a:r>
              <a:rPr lang="en-US" sz="2029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ROC-QUC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00267" y="4786209"/>
            <a:ext cx="2590323" cy="96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6"/>
              </a:lnSpc>
              <a:spcBef>
                <a:spcPct val="0"/>
              </a:spcBef>
            </a:pPr>
            <a:r>
              <a:rPr lang="en-US" sz="5640" strike="noStrike" u="none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98.72%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00267" y="2713716"/>
            <a:ext cx="5754831" cy="107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  <a:spcBef>
                <a:spcPct val="0"/>
              </a:spcBef>
            </a:pPr>
            <a:r>
              <a:rPr lang="en-US" sz="2029" spc="-40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Performance of the Random Forest model for predicting employee attrition. Results validated on the test set.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01262" y="5830678"/>
            <a:ext cx="2370352" cy="35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2029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01262" y="4786209"/>
            <a:ext cx="2653836" cy="96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6"/>
              </a:lnSpc>
              <a:spcBef>
                <a:spcPct val="0"/>
              </a:spcBef>
            </a:pPr>
            <a:r>
              <a:rPr lang="en-US" sz="564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90.48</a:t>
            </a:r>
            <a:r>
              <a:rPr lang="en-US" sz="5640" strike="noStrike" u="none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00267" y="7748439"/>
            <a:ext cx="2370352" cy="35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2029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Accuracy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0267" y="6703970"/>
            <a:ext cx="2370352" cy="96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6"/>
              </a:lnSpc>
              <a:spcBef>
                <a:spcPct val="0"/>
              </a:spcBef>
            </a:pPr>
            <a:r>
              <a:rPr lang="en-US" sz="564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95</a:t>
            </a:r>
            <a:r>
              <a:rPr lang="en-US" sz="5640" strike="noStrike" u="none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01262" y="7748439"/>
            <a:ext cx="2370352" cy="35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2029" spc="-40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F1 Score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01262" y="6703970"/>
            <a:ext cx="2653836" cy="96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6"/>
              </a:lnSpc>
              <a:spcBef>
                <a:spcPct val="0"/>
              </a:spcBef>
            </a:pPr>
            <a:r>
              <a:rPr lang="en-US" sz="564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92.68</a:t>
            </a:r>
            <a:r>
              <a:rPr lang="en-US" sz="5640" strike="noStrike" u="none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02273" y="-8767"/>
            <a:ext cx="4907787" cy="10295767"/>
          </a:xfrm>
          <a:custGeom>
            <a:avLst/>
            <a:gdLst/>
            <a:ahLst/>
            <a:cxnLst/>
            <a:rect r="r" b="b" t="t" l="l"/>
            <a:pathLst>
              <a:path h="10295767" w="490778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88" t="0" r="-97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677552"/>
            <a:ext cx="12119244" cy="5439740"/>
          </a:xfrm>
          <a:custGeom>
            <a:avLst/>
            <a:gdLst/>
            <a:ahLst/>
            <a:cxnLst/>
            <a:rect r="r" b="b" t="t" l="l"/>
            <a:pathLst>
              <a:path h="5439740" w="12119244">
                <a:moveTo>
                  <a:pt x="0" y="0"/>
                </a:moveTo>
                <a:lnTo>
                  <a:pt x="12119244" y="0"/>
                </a:lnTo>
                <a:lnTo>
                  <a:pt x="12119244" y="5439739"/>
                </a:lnTo>
                <a:lnTo>
                  <a:pt x="0" y="5439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72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420" y="962025"/>
            <a:ext cx="5775957" cy="60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1"/>
              </a:lnSpc>
              <a:spcBef>
                <a:spcPct val="0"/>
              </a:spcBef>
            </a:pPr>
            <a:r>
              <a:rPr lang="en-US" b="true" sz="3558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Explainable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420" y="2254574"/>
            <a:ext cx="9913189" cy="25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406" spc="-2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1406" spc="-28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nderstand why an employee is at risk of leaving, not just predict it.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66494" y="8211194"/>
            <a:ext cx="4154377" cy="582587"/>
          </a:xfrm>
          <a:custGeom>
            <a:avLst/>
            <a:gdLst/>
            <a:ahLst/>
            <a:cxnLst/>
            <a:rect r="r" b="b" t="t" l="l"/>
            <a:pathLst>
              <a:path h="582587" w="415437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835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58437" y="2528622"/>
            <a:ext cx="4203375" cy="5973865"/>
            <a:chOff x="0" y="0"/>
            <a:chExt cx="1416547" cy="2013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547" cy="2013207"/>
            </a:xfrm>
            <a:custGeom>
              <a:avLst/>
              <a:gdLst/>
              <a:ahLst/>
              <a:cxnLst/>
              <a:rect r="r" b="b" t="t" l="l"/>
              <a:pathLst>
                <a:path h="2013207" w="1416547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1967161"/>
                  </a:lnTo>
                  <a:cubicBezTo>
                    <a:pt x="1416547" y="1979373"/>
                    <a:pt x="1411696" y="1991085"/>
                    <a:pt x="1403061" y="1999720"/>
                  </a:cubicBezTo>
                  <a:cubicBezTo>
                    <a:pt x="1394426" y="2008356"/>
                    <a:pt x="1382714" y="2013207"/>
                    <a:pt x="1370502" y="2013207"/>
                  </a:cubicBezTo>
                  <a:lnTo>
                    <a:pt x="46046" y="2013207"/>
                  </a:lnTo>
                  <a:cubicBezTo>
                    <a:pt x="33834" y="2013207"/>
                    <a:pt x="22122" y="2008356"/>
                    <a:pt x="13487" y="1999720"/>
                  </a:cubicBezTo>
                  <a:cubicBezTo>
                    <a:pt x="4851" y="1991085"/>
                    <a:pt x="0" y="1979373"/>
                    <a:pt x="0" y="1967161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16547" cy="2051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3207435" y="5453288"/>
            <a:ext cx="4154377" cy="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3207435" y="7608323"/>
            <a:ext cx="4154377" cy="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836861" y="8211194"/>
            <a:ext cx="4154377" cy="582587"/>
          </a:xfrm>
          <a:custGeom>
            <a:avLst/>
            <a:gdLst/>
            <a:ahLst/>
            <a:cxnLst/>
            <a:rect r="r" b="b" t="t" l="l"/>
            <a:pathLst>
              <a:path h="582587" w="415437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835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812082" y="2466355"/>
            <a:ext cx="4203375" cy="5973865"/>
            <a:chOff x="0" y="0"/>
            <a:chExt cx="1416547" cy="20132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6547" cy="2013207"/>
            </a:xfrm>
            <a:custGeom>
              <a:avLst/>
              <a:gdLst/>
              <a:ahLst/>
              <a:cxnLst/>
              <a:rect r="r" b="b" t="t" l="l"/>
              <a:pathLst>
                <a:path h="2013207" w="1416547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1967161"/>
                  </a:lnTo>
                  <a:cubicBezTo>
                    <a:pt x="1416547" y="1979373"/>
                    <a:pt x="1411696" y="1991085"/>
                    <a:pt x="1403061" y="1999720"/>
                  </a:cubicBezTo>
                  <a:cubicBezTo>
                    <a:pt x="1394426" y="2008356"/>
                    <a:pt x="1382714" y="2013207"/>
                    <a:pt x="1370502" y="2013207"/>
                  </a:cubicBezTo>
                  <a:lnTo>
                    <a:pt x="46046" y="2013207"/>
                  </a:lnTo>
                  <a:cubicBezTo>
                    <a:pt x="33834" y="2013207"/>
                    <a:pt x="22122" y="2008356"/>
                    <a:pt x="13487" y="1999720"/>
                  </a:cubicBezTo>
                  <a:cubicBezTo>
                    <a:pt x="4851" y="1991085"/>
                    <a:pt x="0" y="1979373"/>
                    <a:pt x="0" y="1967161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16547" cy="2051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836861" y="5227111"/>
            <a:ext cx="4154377" cy="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836861" y="7190257"/>
            <a:ext cx="4154377" cy="0"/>
          </a:xfrm>
          <a:prstGeom prst="line">
            <a:avLst/>
          </a:prstGeom>
          <a:ln cap="flat" w="3810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5201579" y="1256601"/>
            <a:ext cx="7884841" cy="7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5"/>
              </a:lnSpc>
              <a:spcBef>
                <a:spcPct val="0"/>
              </a:spcBef>
            </a:pPr>
            <a:r>
              <a:rPr lang="en-US" b="true" sz="4496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Ethical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70523" y="6030469"/>
            <a:ext cx="3579202" cy="105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4"/>
              </a:lnSpc>
            </a:pPr>
            <a:r>
              <a:rPr lang="en-US" sz="1510" spc="-3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Systematic ve</a:t>
            </a:r>
            <a:r>
              <a:rPr lang="en-US" sz="1510" spc="-30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rification of bias according to gender and other demographic criteria. Ensures fairness in the model's predictions.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56084" y="4789763"/>
            <a:ext cx="3490991" cy="43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b="true" sz="243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Bias </a:t>
            </a:r>
            <a:r>
              <a:rPr lang="en-US" b="true" sz="243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7505" y="5788472"/>
            <a:ext cx="3579202" cy="79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4"/>
              </a:lnSpc>
            </a:pPr>
            <a:r>
              <a:rPr lang="en-US" sz="1510" spc="-30" strike="noStrike" u="none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Guaranteeing fair and non-discriminatory results. Responsible use of AI to support ethical HR decisions.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24168" y="4608025"/>
            <a:ext cx="3490991" cy="43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b="true" sz="243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Fair </a:t>
            </a:r>
            <a:r>
              <a:rPr lang="en-US" b="true" sz="243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753853" y="2631635"/>
            <a:ext cx="2366506" cy="2013536"/>
          </a:xfrm>
          <a:custGeom>
            <a:avLst/>
            <a:gdLst/>
            <a:ahLst/>
            <a:cxnLst/>
            <a:rect r="r" b="b" t="t" l="l"/>
            <a:pathLst>
              <a:path h="2013536" w="2366506">
                <a:moveTo>
                  <a:pt x="0" y="0"/>
                </a:moveTo>
                <a:lnTo>
                  <a:pt x="2366506" y="0"/>
                </a:lnTo>
                <a:lnTo>
                  <a:pt x="2366506" y="2013536"/>
                </a:lnTo>
                <a:lnTo>
                  <a:pt x="0" y="2013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4341827" y="2916971"/>
            <a:ext cx="1719504" cy="1442865"/>
          </a:xfrm>
          <a:custGeom>
            <a:avLst/>
            <a:gdLst/>
            <a:ahLst/>
            <a:cxnLst/>
            <a:rect r="r" b="b" t="t" l="l"/>
            <a:pathLst>
              <a:path h="1442865" w="1719504">
                <a:moveTo>
                  <a:pt x="0" y="0"/>
                </a:moveTo>
                <a:lnTo>
                  <a:pt x="1719505" y="0"/>
                </a:lnTo>
                <a:lnTo>
                  <a:pt x="1719505" y="1442865"/>
                </a:lnTo>
                <a:lnTo>
                  <a:pt x="0" y="1442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860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13997" y="3298645"/>
            <a:ext cx="5841799" cy="5146658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4860" y="3298645"/>
            <a:ext cx="5841799" cy="5146658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2204" y="3298645"/>
            <a:ext cx="5841799" cy="5146658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384604" y="3447950"/>
            <a:ext cx="5570690" cy="3133474"/>
            <a:chOff x="0" y="0"/>
            <a:chExt cx="1128903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671" r="0" b="-671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358655" y="3447950"/>
            <a:ext cx="5570690" cy="3133474"/>
            <a:chOff x="0" y="0"/>
            <a:chExt cx="1128903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671" r="0" b="-671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349552" y="3446286"/>
            <a:ext cx="5570690" cy="3133474"/>
            <a:chOff x="0" y="0"/>
            <a:chExt cx="1128903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l="0" t="-671" r="0" b="-6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417025" y="1905251"/>
            <a:ext cx="7453950" cy="84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b="true" sz="4997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 </a:t>
            </a:r>
            <a:r>
              <a:rPr lang="en-US" b="true" sz="4997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Case and Impact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95061" y="7135947"/>
            <a:ext cx="5297877" cy="79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  <a:spcBef>
                <a:spcPct val="0"/>
              </a:spcBef>
            </a:pPr>
            <a:r>
              <a:rPr lang="en-US" sz="1531" spc="-3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Develop targeted programs based on identified risk factors. Personalize loyalty actions according to the specific needs of each profile.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91020" y="7135947"/>
            <a:ext cx="5297877" cy="79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  <a:spcBef>
                <a:spcPct val="0"/>
              </a:spcBef>
            </a:pPr>
            <a:r>
              <a:rPr lang="en-US" sz="1531" spc="-3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AI as an HR decision support tool, not a replacement. Explainable recommendations for informed and responsible choices.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14400" y="6668645"/>
            <a:ext cx="2877407" cy="32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  <a:spcBef>
                <a:spcPct val="0"/>
              </a:spcBef>
            </a:pPr>
            <a:r>
              <a:rPr lang="en-US" sz="1913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Early </a:t>
            </a:r>
            <a:r>
              <a:rPr lang="en-US" sz="1913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Identification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7049" y="6668645"/>
            <a:ext cx="2877407" cy="32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  <a:spcBef>
                <a:spcPct val="0"/>
              </a:spcBef>
            </a:pPr>
            <a:r>
              <a:rPr lang="en-US" sz="1913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Retention </a:t>
            </a:r>
            <a:r>
              <a:rPr lang="en-US" sz="1913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Strategies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96193" y="6667814"/>
            <a:ext cx="2877407" cy="32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  <a:spcBef>
                <a:spcPct val="0"/>
              </a:spcBef>
            </a:pPr>
            <a:r>
              <a:rPr lang="en-US" sz="1913" strike="noStrike" u="none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Decision Support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1010" y="7135947"/>
            <a:ext cx="5297877" cy="79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  <a:spcBef>
                <a:spcPct val="0"/>
              </a:spcBef>
            </a:pPr>
            <a:r>
              <a:rPr lang="en-US" sz="1531" spc="-3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1531" spc="-3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tect employees at risk before they leave thanks to predictive analysis. Proactive intervention to reduce turnover and its associated costs.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2244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9132" y="1241854"/>
            <a:ext cx="7922504" cy="67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9"/>
              </a:lnSpc>
              <a:spcBef>
                <a:spcPct val="0"/>
              </a:spcBef>
            </a:pPr>
            <a:r>
              <a:rPr lang="en-US" b="true" sz="4049" strike="noStrike" u="none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and Future Work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09132" y="2128374"/>
            <a:ext cx="9006427" cy="14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1"/>
              </a:lnSpc>
              <a:spcBef>
                <a:spcPct val="0"/>
              </a:spcBef>
            </a:pPr>
            <a:r>
              <a:rPr lang="en-US" sz="2029" spc="-4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029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ery AI system has constraints that are essential to recognize to ensure responsible use.</a:t>
            </a:r>
          </a:p>
          <a:p>
            <a:pPr algn="l">
              <a:lnSpc>
                <a:spcPts val="2841"/>
              </a:lnSpc>
              <a:spcBef>
                <a:spcPct val="0"/>
              </a:spcBef>
            </a:pPr>
            <a:r>
              <a:rPr lang="en-US" sz="2029" spc="-40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Our model, while high-performing, faces certain limitations inherent to the available data.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2"/>
              <a:stretch>
                <a:fillRect l="0" t="-1706" r="0" b="-17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94175" y="8410948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09132" y="5143500"/>
            <a:ext cx="11387207" cy="3298724"/>
            <a:chOff x="0" y="0"/>
            <a:chExt cx="2999100" cy="86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99100" cy="868800"/>
            </a:xfrm>
            <a:custGeom>
              <a:avLst/>
              <a:gdLst/>
              <a:ahLst/>
              <a:cxnLst/>
              <a:rect r="r" b="b" t="t" l="l"/>
              <a:pathLst>
                <a:path h="868800" w="2999100">
                  <a:moveTo>
                    <a:pt x="9518" y="0"/>
                  </a:moveTo>
                  <a:lnTo>
                    <a:pt x="2989581" y="0"/>
                  </a:lnTo>
                  <a:cubicBezTo>
                    <a:pt x="2992106" y="0"/>
                    <a:pt x="2994527" y="1003"/>
                    <a:pt x="2996312" y="2788"/>
                  </a:cubicBezTo>
                  <a:cubicBezTo>
                    <a:pt x="2998097" y="4573"/>
                    <a:pt x="2999100" y="6994"/>
                    <a:pt x="2999100" y="9518"/>
                  </a:cubicBezTo>
                  <a:lnTo>
                    <a:pt x="2999100" y="859282"/>
                  </a:lnTo>
                  <a:cubicBezTo>
                    <a:pt x="2999100" y="861806"/>
                    <a:pt x="2998097" y="864227"/>
                    <a:pt x="2996312" y="866012"/>
                  </a:cubicBezTo>
                  <a:cubicBezTo>
                    <a:pt x="2994527" y="867797"/>
                    <a:pt x="2992106" y="868800"/>
                    <a:pt x="2989581" y="868800"/>
                  </a:cubicBezTo>
                  <a:lnTo>
                    <a:pt x="9518" y="868800"/>
                  </a:lnTo>
                  <a:cubicBezTo>
                    <a:pt x="4261" y="868800"/>
                    <a:pt x="0" y="864538"/>
                    <a:pt x="0" y="859282"/>
                  </a:cubicBezTo>
                  <a:lnTo>
                    <a:pt x="0" y="9518"/>
                  </a:lnTo>
                  <a:cubicBezTo>
                    <a:pt x="0" y="6994"/>
                    <a:pt x="1003" y="4573"/>
                    <a:pt x="2788" y="2788"/>
                  </a:cubicBezTo>
                  <a:cubicBezTo>
                    <a:pt x="4573" y="1003"/>
                    <a:pt x="6994" y="0"/>
                    <a:pt x="9518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999100" cy="90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55593" y="4814991"/>
            <a:ext cx="2772169" cy="685553"/>
            <a:chOff x="0" y="0"/>
            <a:chExt cx="1013291" cy="2505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013291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78"/>
                </a:lnSpc>
                <a:spcBef>
                  <a:spcPct val="0"/>
                </a:spcBef>
              </a:pPr>
              <a:r>
                <a:rPr lang="en-US" b="true" sz="2484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12407" y="4814991"/>
            <a:ext cx="2772169" cy="685553"/>
            <a:chOff x="0" y="0"/>
            <a:chExt cx="1013291" cy="2505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13291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78"/>
                </a:lnSpc>
                <a:spcBef>
                  <a:spcPct val="0"/>
                </a:spcBef>
              </a:pPr>
              <a:r>
                <a:rPr lang="en-US" b="true" sz="2484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69222" y="4814991"/>
            <a:ext cx="2670160" cy="685553"/>
            <a:chOff x="0" y="0"/>
            <a:chExt cx="976004" cy="2505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6004" cy="250585"/>
            </a:xfrm>
            <a:custGeom>
              <a:avLst/>
              <a:gdLst/>
              <a:ahLst/>
              <a:cxnLst/>
              <a:rect r="r" b="b" t="t" l="l"/>
              <a:pathLst>
                <a:path h="250585" w="976004">
                  <a:moveTo>
                    <a:pt x="125293" y="0"/>
                  </a:moveTo>
                  <a:lnTo>
                    <a:pt x="850712" y="0"/>
                  </a:lnTo>
                  <a:cubicBezTo>
                    <a:pt x="883941" y="0"/>
                    <a:pt x="915810" y="13200"/>
                    <a:pt x="939307" y="36697"/>
                  </a:cubicBezTo>
                  <a:cubicBezTo>
                    <a:pt x="962804" y="60194"/>
                    <a:pt x="976004" y="92063"/>
                    <a:pt x="976004" y="125293"/>
                  </a:cubicBezTo>
                  <a:lnTo>
                    <a:pt x="976004" y="125293"/>
                  </a:lnTo>
                  <a:cubicBezTo>
                    <a:pt x="976004" y="158522"/>
                    <a:pt x="962804" y="190391"/>
                    <a:pt x="939307" y="213888"/>
                  </a:cubicBezTo>
                  <a:cubicBezTo>
                    <a:pt x="915810" y="237385"/>
                    <a:pt x="883941" y="250585"/>
                    <a:pt x="850712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76004" cy="317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78"/>
                </a:lnSpc>
                <a:spcBef>
                  <a:spcPct val="0"/>
                </a:spcBef>
              </a:pPr>
              <a:r>
                <a:rPr lang="en-US" b="true" sz="2484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03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310929" y="5643420"/>
            <a:ext cx="2661498" cy="207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  <a:r>
              <a:rPr lang="en-US" sz="1666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Limitation 01</a:t>
            </a:r>
          </a:p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sz="1666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Limited dataset size (311 employees) reducing generalization. Restricted demographic diversity that may mask certain biases.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99225" y="5643420"/>
            <a:ext cx="2661498" cy="177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  <a:r>
              <a:rPr lang="en-US" sz="1666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Limitation 02</a:t>
            </a:r>
          </a:p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sz="1666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Potential undetected biases in variables. Lack of longitudinal data to track employee evolution over time.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89588" y="5643420"/>
            <a:ext cx="2661498" cy="177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  <a:r>
              <a:rPr lang="en-US" sz="1666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</a:p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sz="1666" spc="-33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Integration of larger and more diversified datasets. Advanced algorithmic fairness techniques. Real-time dashboard for HR.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54127" y="3779579"/>
            <a:ext cx="12179747" cy="245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5"/>
              </a:lnSpc>
              <a:spcBef>
                <a:spcPct val="0"/>
              </a:spcBef>
            </a:pPr>
            <a:r>
              <a:rPr lang="en-US" b="true" sz="14303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  <a:r>
              <a:rPr lang="en-US" b="true" sz="14303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98912" y="9214326"/>
            <a:ext cx="4069598" cy="31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8"/>
              </a:lnSpc>
              <a:spcBef>
                <a:spcPct val="0"/>
              </a:spcBef>
            </a:pPr>
            <a:r>
              <a:rPr lang="en-US" sz="182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Explainable AI - Hackathon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98912" y="0"/>
            <a:ext cx="5889088" cy="756959"/>
            <a:chOff x="0" y="0"/>
            <a:chExt cx="1551036" cy="1993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98912" y="9530041"/>
            <a:ext cx="5889088" cy="756959"/>
            <a:chOff x="0" y="0"/>
            <a:chExt cx="1551036" cy="1993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DAHENCzINa8</dc:identifier>
  <dcterms:modified xsi:type="dcterms:W3CDTF">2011-08-01T06:04:30Z</dcterms:modified>
  <cp:revision>1</cp:revision>
  <dc:title>Presentación proyecto de tecnología profesional corporativo azul</dc:title>
</cp:coreProperties>
</file>